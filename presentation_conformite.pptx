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96D6"/>
                </a:solidFill>
                <a:latin typeface="Calibri"/>
              </a:defRPr>
            </a:pPr>
            <a:r>
              <a:t>ANALYSE DE CONFORMITE CONTRACTUELLE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Agent Vocal Intelligent — Systeme Multi-Agents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3200400"/>
            <a:ext cx="2133295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Calibri"/>
              </a:defRPr>
            </a:pPr>
            <a:r>
              <a:t>Projet Cloud &amp; Intelligence Artificielle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Presentateur 1    —    Presentateur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095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Presentateur 3    —    Presentateur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  <a:latin typeface="Calibri"/>
              </a:defRPr>
            </a:pPr>
            <a:r>
              <a:t>SOMMAIRE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554480"/>
            <a:ext cx="10058400" cy="7315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91639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Contexte &amp; Problematique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691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Presentateur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6060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560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Architecture &amp; Technologies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6060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Presentateur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383280"/>
            <a:ext cx="10058400" cy="7315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35204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474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Fonctionnalites &amp; Demonstration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Presentateur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297680"/>
            <a:ext cx="10058400" cy="7315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4348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Infrastructure Cloud &amp; Deploiement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434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Presentateur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212080"/>
            <a:ext cx="10058400" cy="7315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34924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96D6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53035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Bilan &amp; Perspectives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3492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Tous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7E22"/>
                </a:solidFill>
                <a:latin typeface="Calibri"/>
              </a:defRPr>
            </a:pPr>
            <a:r>
              <a:t>01  CONTEXTE &amp; PROBLEMATIQUE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Calibri"/>
              </a:defRPr>
            </a:pPr>
            <a:r>
              <a:t>Le constat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▸  Multiplication des reglementations internationales</a:t>
            </a:r>
            <a:br/>
            <a:r>
              <a:t>   (RGPD, AI Act, NIST, Loi Informatique &amp; Libertes)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▸  Analyse manuelle des contrats : lente, couteuse,</a:t>
            </a:r>
            <a:br/>
            <a:r>
              <a:t>   sujette aux erreurs humaines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▸  Besoin de tracabilite complete pour les audits</a:t>
            </a:r>
            <a:br/>
            <a:r>
              <a:t>   de conformite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▸  Complexite croissante des contrats multi-juridictionnels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029200" cy="47548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Notre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▸  Systeme multi-agents IA pour l'analyse</a:t>
            </a:r>
            <a:br/>
            <a:r>
              <a:t>   automatisee de conformite contractuelle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▸  Interface vocale intelligente (STT + TTS)</a:t>
            </a:r>
            <a:br/>
            <a:r>
              <a:t>   pour une accessibilite maximale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▸  RAG (Retrieval Augmented Generation) pour</a:t>
            </a:r>
            <a:br/>
            <a:r>
              <a:t>   des reponses sourcees et argumentees</a:t>
            </a:r>
          </a:p>
          <a:p>
            <a:pPr>
              <a:spcAft>
                <a:spcPts val="800"/>
              </a:spcAft>
              <a:defRPr sz="1500">
                <a:solidFill>
                  <a:srgbClr val="CCCCCC"/>
                </a:solidFill>
                <a:latin typeface="Calibri"/>
              </a:defRPr>
            </a:pPr>
            <a:r>
              <a:t>▸  Audit trail complet : chaque etape est tracee</a:t>
            </a:r>
            <a:br/>
            <a:r>
              <a:t>   et consultable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E67E22"/>
                </a:solidFill>
                <a:latin typeface="Calibri"/>
              </a:defRPr>
            </a:pPr>
            <a:r>
              <a:t>01  REGLEMENTATIONS COUVERTES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303520" cy="21945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64008" cy="219456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Calibri"/>
              </a:defRPr>
            </a:pPr>
            <a:r>
              <a:t>RGPD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Reglement UE 2016/679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Protection des donnees personnelles,</a:t>
            </a:r>
            <a:br/>
            <a:r>
              <a:t>droits des personnes, transferts internationaux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303520" cy="21945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64008" cy="21945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9B59B6"/>
                </a:solidFill>
                <a:latin typeface="Calibri"/>
              </a:defRPr>
            </a:pPr>
            <a:r>
              <a:t>AI 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Reglement UE 2024/1689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3774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Classification des risques IA, obligations</a:t>
            </a:r>
            <a:br/>
            <a:r>
              <a:t>de conformite, transparence algorithmique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303520" cy="21945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931920"/>
            <a:ext cx="64008" cy="21945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NIST AI RMF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NIST AI 100-1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9377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Cadre de gestion des risques IA,</a:t>
            </a:r>
            <a:br/>
            <a:r>
              <a:t>gouvernance, fiabilite, securite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931920"/>
            <a:ext cx="5303520" cy="21945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931920"/>
            <a:ext cx="64008" cy="2194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Calibri"/>
              </a:defRPr>
            </a:pPr>
            <a:r>
              <a:t>Loi Inf. &amp; Libertes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99999"/>
                </a:solidFill>
                <a:latin typeface="Calibri"/>
              </a:defRPr>
            </a:pPr>
            <a:r>
              <a:t>Loi n 78-17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93776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Droit francais, CNIL, donnees sensibles,</a:t>
            </a:r>
            <a:br/>
            <a:r>
              <a:t>consentement, droit d'acces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96D6"/>
                </a:solidFill>
                <a:latin typeface="Calibri"/>
              </a:defRPr>
            </a:pPr>
            <a:r>
              <a:t>02  ARCHITECTURE GLOBALE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CC71"/>
                </a:solidFill>
                <a:latin typeface="Calibri"/>
              </a:defRPr>
            </a:pPr>
            <a:r>
              <a:t>Frontend</a:t>
            </a:r>
            <a:br/>
            <a:r>
              <a:t>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Port 8501</a:t>
            </a:r>
            <a:br/>
            <a:r>
              <a:t>Interface utilisateur</a:t>
            </a:r>
            <a:br/>
            <a:r>
              <a:t>Saisie texte &amp; vocale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371600"/>
            <a:ext cx="256032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1371600"/>
            <a:ext cx="25603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1508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6D6"/>
                </a:solidFill>
                <a:latin typeface="Calibri"/>
              </a:defRPr>
            </a:pPr>
            <a:r>
              <a:t>Backend</a:t>
            </a:r>
            <a:br/>
            <a: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286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Port 8000</a:t>
            </a:r>
            <a:br/>
            <a:r>
              <a:t>Orchestration agents</a:t>
            </a:r>
            <a:br/>
            <a:r>
              <a:t>API REST complete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371600"/>
            <a:ext cx="256032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0" y="1371600"/>
            <a:ext cx="256032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508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B59B6"/>
                </a:solidFill>
                <a:latin typeface="Calibri"/>
              </a:defRPr>
            </a:pPr>
            <a:r>
              <a:t>n8n</a:t>
            </a:r>
            <a:br/>
            <a:r>
              <a:t>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286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Port 5678</a:t>
            </a:r>
            <a:br/>
            <a:r>
              <a:t>Automatisation</a:t>
            </a:r>
            <a:br/>
            <a:r>
              <a:t>Alertes &amp; webhooks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371600"/>
            <a:ext cx="256032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09760" y="1371600"/>
            <a:ext cx="256032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15087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7E22"/>
                </a:solidFill>
                <a:latin typeface="Calibri"/>
              </a:defRPr>
            </a:pPr>
            <a:r>
              <a:t>Groq API</a:t>
            </a:r>
            <a:br/>
            <a:r>
              <a:t>Llama 3.3 70B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2286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Calibri"/>
              </a:defRPr>
            </a:pPr>
            <a:r>
              <a:t>LLM externe</a:t>
            </a:r>
            <a:br/>
            <a:r>
              <a:t>Whisper STT</a:t>
            </a:r>
            <a:br/>
            <a:r>
              <a:t>gTTS synthese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103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103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10312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99999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14800"/>
            <a:ext cx="1115568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t>Couche Donnees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ChromaDB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0749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Base vectorielle</a:t>
            </a:r>
            <a:br/>
            <a:r>
              <a:t>Embeddings MiniLM-L6-v2</a:t>
            </a:r>
            <a:br/>
            <a:r>
              <a:t>Recherche semantique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SQLite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50749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Base d'audit</a:t>
            </a:r>
            <a:br/>
            <a:r>
              <a:t>Tracabilite complete</a:t>
            </a:r>
            <a:br/>
            <a:r>
              <a:t>Logs par session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Reglementations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0749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AI Act, RGPD, NIST</a:t>
            </a:r>
            <a:br/>
            <a:r>
              <a:t>Loi Inf. &amp; Libertes</a:t>
            </a:r>
            <a:br/>
            <a:r>
              <a:t>Indexation automatique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CC71"/>
                </a:solidFill>
                <a:latin typeface="Calibri"/>
              </a:defRPr>
            </a:pPr>
            <a:r>
              <a:t>Contrats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507492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Calibri"/>
              </a:defRPr>
            </a:pPr>
            <a:r>
              <a:t>PDF &amp; HTML</a:t>
            </a:r>
            <a:br/>
            <a:r>
              <a:t>Documents SEC EDGAR</a:t>
            </a:r>
            <a:br/>
            <a:r>
              <a:t>Upload via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96D6"/>
                </a:solidFill>
                <a:latin typeface="Calibri"/>
              </a:defRPr>
            </a:pPr>
            <a:r>
              <a:t>02  PIPELINE MULTI-AGENTS — LANGGRAPH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51760" cy="3657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5176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1645920"/>
            <a:ext cx="548640" cy="54864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96D6"/>
                </a:solidFill>
                <a:latin typeface="Calibri"/>
              </a:defRPr>
            </a:pPr>
            <a:r>
              <a:t>Agent</a:t>
            </a:r>
            <a:br/>
            <a:r>
              <a:t>Retrieval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Recherche semantique dans</a:t>
            </a:r>
            <a:br/>
            <a:r>
              <a:t>ChromaDB : clauses contrat</a:t>
            </a:r>
            <a:br/>
            <a:r>
              <a:t>+ articles reglementaires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743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651760" cy="3657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371600"/>
            <a:ext cx="26517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89120" y="164592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377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ECC71"/>
                </a:solidFill>
                <a:latin typeface="Calibri"/>
              </a:defRPr>
            </a:pPr>
            <a:r>
              <a:t>Agent</a:t>
            </a:r>
            <a:br/>
            <a:r>
              <a:t>Analyse Juridique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00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Analyse croisee clauses /</a:t>
            </a:r>
            <a:br/>
            <a:r>
              <a:t>reglementations. Detection</a:t>
            </a:r>
            <a:br/>
            <a:r>
              <a:t>des non-conformites.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743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371600"/>
            <a:ext cx="2651760" cy="3657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371600"/>
            <a:ext cx="265176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0" y="164592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377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E67E22"/>
                </a:solidFill>
                <a:latin typeface="Calibri"/>
              </a:defRPr>
            </a:pPr>
            <a:r>
              <a:t>Agent</a:t>
            </a:r>
            <a:br/>
            <a:r>
              <a:t>Validation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00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Verification croisee,</a:t>
            </a:r>
            <a:br/>
            <a:r>
              <a:t>coherence multi-juridictions.</a:t>
            </a:r>
            <a:br/>
            <a:r>
              <a:t>Niveaux de risque.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274320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1371600"/>
            <a:ext cx="2651760" cy="36576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235440" y="1371600"/>
            <a:ext cx="265176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241280" y="1645920"/>
            <a:ext cx="548640" cy="54864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3774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9B59B6"/>
                </a:solidFill>
                <a:latin typeface="Calibri"/>
              </a:defRPr>
            </a:pPr>
            <a:r>
              <a:t>Agent</a:t>
            </a:r>
            <a:br/>
            <a:r>
              <a:t>Synthese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20040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Reponse argumentee avec</a:t>
            </a:r>
            <a:br/>
            <a:r>
              <a:t>citations. Recommandations</a:t>
            </a:r>
            <a:br/>
            <a:r>
              <a:t>concretes.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303520"/>
            <a:ext cx="11430000" cy="109728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Audit Trail — Chaque etape est enregistree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Session ID unique  |  Timestamp UTC  |  Entrees / Sorties agents  |  Sources utilisees  |  Raisonnement complet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096D6"/>
                </a:solidFill>
                <a:latin typeface="Calibri"/>
              </a:defRPr>
            </a:pPr>
            <a:r>
              <a:t>02  STACK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108960" cy="41148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310896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59B6"/>
                </a:solidFill>
                <a:latin typeface="Calibri"/>
              </a:defRPr>
            </a:pPr>
            <a:r>
              <a:t>IA &amp; NLP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LangChain + LangGraph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Groq (Llama 3.3 70B)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ChromaDB + MiniLM-L6-v2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Groq Whisper (STT)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gTTS (Text-to-Speech)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280160"/>
            <a:ext cx="3108960" cy="41148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0" y="1280160"/>
            <a:ext cx="310896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0116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Python 3.11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FastAPI + Uvicorn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Pydantic v2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PyMuPDF (extraction PDF)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BeautifulSoup4 (HTML)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280160"/>
            <a:ext cx="3108960" cy="41148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1280160"/>
            <a:ext cx="310896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0116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Streamlit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Audio Recorder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Interface responsive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Mode texte &amp; vocal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Gestion des contrats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77840"/>
            <a:ext cx="9875520" cy="100584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669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7607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Docker  |  Docker Compose  |  n8n (workflows)  |  SQLite (audit)  |  Volumes persistants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ECC71"/>
                </a:solidFill>
                <a:latin typeface="Calibri"/>
              </a:defRPr>
            </a:pPr>
            <a:r>
              <a:t>03  FONCTIONNALITES CLES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56616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Calibri"/>
              </a:defRPr>
            </a:pPr>
            <a:r>
              <a:t>Interface Vocale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39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Enregistrement micro, upload audio,</a:t>
            </a:r>
            <a:br/>
            <a:r>
              <a:t>transcription Whisper, synthese vocale</a:t>
            </a:r>
            <a:br/>
            <a:r>
              <a:t>des conclusions en francais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56616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Analyse Multi-Contrats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20239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Analyse d'un contrat unique ou de</a:t>
            </a:r>
            <a:br/>
            <a:r>
              <a:t>l'ensemble du corpus. Selection</a:t>
            </a:r>
            <a:br/>
            <a:r>
              <a:t>interactive via l'interface.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56616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41731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7E22"/>
                </a:solidFill>
                <a:latin typeface="Calibri"/>
              </a:defRPr>
            </a:pPr>
            <a:r>
              <a:t>Conformite Argumentee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20239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Chaque analyse est sourcee avec</a:t>
            </a:r>
            <a:br/>
            <a:r>
              <a:t>citations reglementaires precises.</a:t>
            </a:r>
            <a:br/>
            <a:r>
              <a:t>Niveaux de risque automatiques.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31920"/>
            <a:ext cx="356616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RAG Intelligent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720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Recherche semantique dans les clauses</a:t>
            </a:r>
            <a:br/>
            <a:r>
              <a:t>et reglementations. Top 5 contrats</a:t>
            </a:r>
            <a:br/>
            <a:r>
              <a:t>+ Top 8 reglementations.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931920"/>
            <a:ext cx="356616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Audit Complet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5720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Session ID, timestamps, entrees/sorties</a:t>
            </a:r>
            <a:br/>
            <a:r>
              <a:t>de chaque agent, sources, raisonnement.</a:t>
            </a:r>
            <a:br/>
            <a:r>
              <a:t>API REST de consultation.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931920"/>
            <a:ext cx="3566160" cy="22860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BC9C"/>
                </a:solidFill>
                <a:latin typeface="Calibri"/>
              </a:defRPr>
            </a:pPr>
            <a:r>
              <a:t>Automatisation n8n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57200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Webhooks, routage par niveau de risque,</a:t>
            </a:r>
            <a:br/>
            <a:r>
              <a:t>alerte automatique, workflows</a:t>
            </a:r>
            <a:br/>
            <a:r>
              <a:t>configurables.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ECC71"/>
                </a:solidFill>
                <a:latin typeface="Calibri"/>
              </a:defRPr>
            </a:pPr>
            <a:r>
              <a:t>03  PARCOURS UTILISATEUR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103120" cy="2743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34440" y="1554480"/>
            <a:ext cx="548640" cy="54864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96D6"/>
                </a:solidFill>
                <a:latin typeface="Calibri"/>
              </a:defRPr>
            </a:pPr>
            <a:r>
              <a:t>Connexion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Authentification</a:t>
            </a:r>
            <a:br/>
            <a:r>
              <a:t>par mot de passe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99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371600"/>
            <a:ext cx="2103120" cy="2743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66160" y="1554480"/>
            <a:ext cx="548640" cy="54864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  <a:latin typeface="Calibri"/>
              </a:defRPr>
            </a:pPr>
            <a:r>
              <a:t>Saisie requete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7432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Texte ou voix</a:t>
            </a:r>
            <a:br/>
            <a:r>
              <a:t>(micro / fichier)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99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1371600"/>
            <a:ext cx="2103120" cy="2743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97879" y="155448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67E22"/>
                </a:solidFill>
                <a:latin typeface="Calibri"/>
              </a:defRPr>
            </a:pPr>
            <a:r>
              <a:t>Selection contrat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79" y="27432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Un contrat ou</a:t>
            </a:r>
            <a:br/>
            <a:r>
              <a:t>tout le corpus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99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59" y="1371600"/>
            <a:ext cx="2103120" cy="2743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599" y="1554480"/>
            <a:ext cx="548640" cy="54864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799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9B59B6"/>
                </a:solidFill>
                <a:latin typeface="Calibri"/>
              </a:defRPr>
            </a:pPr>
            <a:r>
              <a:t>Analyse 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799" y="27432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Pipeline 4 agents</a:t>
            </a:r>
            <a:br/>
            <a:r>
              <a:t>en sequence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99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1371600"/>
            <a:ext cx="2103120" cy="2743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61319" y="155448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19" y="22860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74C3C"/>
                </a:solidFill>
                <a:latin typeface="Calibri"/>
              </a:defRPr>
            </a:pPr>
            <a:r>
              <a:t>Resultats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19" y="274320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Analyse + risques</a:t>
            </a:r>
            <a:br/>
            <a:r>
              <a:t>+ citations + audio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572000"/>
            <a:ext cx="11247120" cy="18288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Exemples de questions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1206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"Ce contrat est-il conforme au RGPD si les donnees sont hebergees aux Etats-Unis ?"</a:t>
            </a:r>
            <a:br/>
            <a:r>
              <a:t>"Quelles clauses concernent le transfert de donnees hors UE ?"</a:t>
            </a:r>
            <a:br/>
            <a:r>
              <a:t>"L'AI Act impose-t-il des obligations de validation pour les systemes IA de ce contrat ?"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9B59B6"/>
                </a:solidFill>
                <a:latin typeface="Calibri"/>
              </a:defRPr>
            </a:pPr>
            <a:r>
              <a:t>04  INFRASTRUCTURE &amp; DEPLOIEMENT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743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t>Docker Compose — 3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compliance-backend (Python 3.11, port 8000)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compliance-frontend (Streamlit, port 8501)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compliance-n8n (n8n:latest, port 5678)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Health checks &amp; restart policies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Volumes persistants (data, logs, n8n)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029200" cy="2743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Securite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Variables d'environnement (.env)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Authentification Streamlit (mot de passe)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Auth basique n8n (admin/password)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Cle API Groq securisee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Donnees stockees localement (on-premise)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1155680" cy="219456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Deploiement en 3 commandes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C71"/>
                </a:solidFill>
                <a:latin typeface="Calibri"/>
              </a:defRPr>
            </a:pPr>
            <a:r>
              <a:t>1.  git clone &lt;repo&gt;  &amp;&amp;  cp .env.example .env  &amp;&amp;  nano .env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440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C71"/>
                </a:solidFill>
                <a:latin typeface="Calibri"/>
              </a:defRPr>
            </a:pPr>
            <a:r>
              <a:t>2.  docker-compose up --build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ECC71"/>
                </a:solidFill>
                <a:latin typeface="Calibri"/>
              </a:defRPr>
            </a:pPr>
            <a:r>
              <a:t>3.  curl -X POST http://localhost:8000/reindex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9B59B6"/>
                </a:solidFill>
                <a:latin typeface="Calibri"/>
              </a:defRPr>
            </a:pPr>
            <a:r>
              <a:t>04  API REST — ENDPOINTS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25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/health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Verification sante du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515600" cy="457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7451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/analyze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18745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Analyse de conformite principale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377439"/>
            <a:ext cx="10515600" cy="457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2315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4231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/upload-contract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4231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Ajout d'un nouveau contrat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926079"/>
            <a:ext cx="10515600" cy="457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7179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9717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/contracts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97179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Liste des contrats disponibles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474720"/>
            <a:ext cx="10515600" cy="457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52043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352043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/tts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35204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Synthese vocale (Text-to-Speech)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023360"/>
            <a:ext cx="10515600" cy="457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069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069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/stt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069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Transcription audio (Speech-to-Text)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572000"/>
            <a:ext cx="10515600" cy="457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17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617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/audit/{session_id}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617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Logs d'audit par session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120640"/>
            <a:ext cx="10515600" cy="457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16635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CC71"/>
                </a:solidFill>
                <a:latin typeface="Calibri"/>
              </a:defRPr>
            </a:pPr>
            <a:r>
              <a:t>GET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1663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/audit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51663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Historique complet des audits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5669279"/>
            <a:ext cx="10515600" cy="457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71499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7E22"/>
                </a:solidFill>
                <a:latin typeface="Calibri"/>
              </a:defRPr>
            </a:pPr>
            <a:r>
              <a:t>POST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7149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96D6"/>
                </a:solidFill>
                <a:latin typeface="Calibri"/>
              </a:defRPr>
            </a:pPr>
            <a:r>
              <a:t>/reindex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571499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Reindexation du vectorstore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BC9C"/>
                </a:solidFill>
                <a:latin typeface="Calibri"/>
              </a:defRPr>
            </a:pPr>
            <a:r>
              <a:t>05  BILAN &amp;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743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Ce que nous avons realise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Systeme multi-agents fonctionnel (4 agents)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Interface vocale complete (STT + TTS)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RAG performant sur 4 reglementations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Tracabilite d'audit complete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Deploiement Docker automatise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029200" cy="274320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Calibri"/>
              </a:defRPr>
            </a:pPr>
            <a:r>
              <a:t>Perspectives d'evolution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Deploiement cloud (AWS / GCP / Azure)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Ajout de nouvelles reglementations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Interface multi-langues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Integration CI/CD complete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Dashboard analytique de conformite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89120"/>
            <a:ext cx="11155680" cy="2103120"/>
          </a:xfrm>
          <a:prstGeom prst="roundRect">
            <a:avLst/>
          </a:prstGeom>
          <a:solidFill>
            <a:srgbClr val="242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7E22"/>
                </a:solidFill>
                <a:latin typeface="Calibri"/>
              </a:defRPr>
            </a:pPr>
            <a:r>
              <a:t>Apprentissages 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377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Orchestration multi-agents avec LangGraph : gestion d'etat partage et sequentiel entre agents specialises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RAG applique au domaine juridique : importance du chunking et de la qualite des embeddings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Integration vocale en temps reel : latence et qualite de transcription avec Whisper</a:t>
            </a:r>
          </a:p>
          <a:p>
            <a:pPr>
              <a:spcAft>
                <a:spcPts val="800"/>
              </a:spcAft>
              <a:defRPr sz="1400">
                <a:solidFill>
                  <a:srgbClr val="CCCCCC"/>
                </a:solidFill>
                <a:latin typeface="Calibri"/>
              </a:defRPr>
            </a:pPr>
            <a:r>
              <a:t>▸  Conteneurisation multi-services : communication inter-containers et gestion des dependances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MERCI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926080"/>
            <a:ext cx="2133295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96D6"/>
                </a:solidFill>
                <a:latin typeface="Calibri"/>
              </a:defRPr>
            </a:pPr>
            <a:r>
              <a:t>Des questions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Calibri"/>
              </a:defRPr>
            </a:pPr>
            <a:r>
              <a:t>Presentateur 1    |    Presentateur 2    |    Presentateur 3    |    Presentateur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Calibri"/>
              </a:defRPr>
            </a:pPr>
            <a:r>
              <a:t>localhost:8501  (Frontend)    |    localhost:8000/docs  (API)    |    localhost:5678  (n8n)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